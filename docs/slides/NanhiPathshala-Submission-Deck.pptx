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</p:sldIdLst>
  <p:notesMasterIdLst>
    <p:notesMasterId r:id="rId8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notesMaster" Target="notesMasters/notesMaster1.xml"/><Relationship Id="rId9" Type="http://schemas.openxmlformats.org/officeDocument/2006/relationships/presProps" Target="presProps.xml"/><Relationship Id="rId10" Type="http://schemas.openxmlformats.org/officeDocument/2006/relationships/viewProps" Target="viewProps.xml"/><Relationship Id="rId11" Type="http://schemas.openxmlformats.org/officeDocument/2006/relationships/theme" Target="theme/theme1.xml"/><Relationship Id="rId12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7ECD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228600" y="228600"/>
            <a:ext cx="11731752" cy="6400800"/>
          </a:xfrm>
          <a:prstGeom prst="rect">
            <a:avLst>
              <a:gd name="adj" fmla="val 2571"/>
            </a:avLst>
          </a:prstGeom>
          <a:solidFill>
            <a:srgbClr val="FFF9F1"/>
          </a:solidFill>
          <a:ln w="12700">
            <a:solidFill>
              <a:srgbClr val="EAD7BF">
                <a:alpha val="0"/>
              </a:srgbClr>
            </a:solidFill>
            <a:prstDash val="solid"/>
          </a:ln>
          <a:effectLst>
            <a:outerShdw sx="100000" sy="100000" kx="0" ky="0" algn="bl" rotWithShape="0" blurRad="19050" dist="15240" dir="2700000">
              <a:srgbClr val="8A5B36">
                <a:alpha val="10000"/>
              </a:srgbClr>
            </a:outerShdw>
          </a:effectLst>
        </p:spPr>
      </p:sp>
      <p:sp>
        <p:nvSpPr>
          <p:cNvPr id="3" name="Shape 1"/>
          <p:cNvSpPr/>
          <p:nvPr/>
        </p:nvSpPr>
        <p:spPr>
          <a:xfrm>
            <a:off x="658368" y="438912"/>
            <a:ext cx="1325880" cy="365760"/>
          </a:xfrm>
          <a:prstGeom prst="roundRect">
            <a:avLst>
              <a:gd name="adj" fmla="val 35000"/>
            </a:avLst>
          </a:prstGeom>
          <a:solidFill>
            <a:srgbClr val="FF9B46">
              <a:alpha val="18000"/>
            </a:srgbClr>
          </a:solidFill>
          <a:ln w="12700">
            <a:solidFill>
              <a:srgbClr val="FF9B46">
                <a:alpha val="0"/>
              </a:srgbClr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768096" y="502920"/>
            <a:ext cx="1078992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2C211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Track 1</a:t>
            </a:r>
            <a:endParaRPr lang="en-US" sz="900" dirty="0"/>
          </a:p>
        </p:txBody>
      </p:sp>
      <p:sp>
        <p:nvSpPr>
          <p:cNvPr id="5" name="Shape 3"/>
          <p:cNvSpPr/>
          <p:nvPr/>
        </p:nvSpPr>
        <p:spPr>
          <a:xfrm>
            <a:off x="2084832" y="438912"/>
            <a:ext cx="1325880" cy="365760"/>
          </a:xfrm>
          <a:prstGeom prst="roundRect">
            <a:avLst>
              <a:gd name="adj" fmla="val 35000"/>
            </a:avLst>
          </a:prstGeom>
          <a:solidFill>
            <a:srgbClr val="5E9F69">
              <a:alpha val="18000"/>
            </a:srgbClr>
          </a:solidFill>
          <a:ln w="12700">
            <a:solidFill>
              <a:srgbClr val="5E9F69">
                <a:alpha val="0"/>
              </a:srgbClr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2194560" y="502920"/>
            <a:ext cx="1078992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2C211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Google ADK</a:t>
            </a:r>
            <a:endParaRPr lang="en-US" sz="900" dirty="0"/>
          </a:p>
        </p:txBody>
      </p:sp>
      <p:sp>
        <p:nvSpPr>
          <p:cNvPr id="7" name="Shape 5"/>
          <p:cNvSpPr/>
          <p:nvPr/>
        </p:nvSpPr>
        <p:spPr>
          <a:xfrm>
            <a:off x="3639312" y="438912"/>
            <a:ext cx="1325880" cy="365760"/>
          </a:xfrm>
          <a:prstGeom prst="roundRect">
            <a:avLst>
              <a:gd name="adj" fmla="val 35000"/>
            </a:avLst>
          </a:prstGeom>
          <a:solidFill>
            <a:srgbClr val="59B8D4">
              <a:alpha val="18000"/>
            </a:srgbClr>
          </a:solidFill>
          <a:ln w="12700">
            <a:solidFill>
              <a:srgbClr val="59B8D4">
                <a:alpha val="0"/>
              </a:srgbClr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3749040" y="502920"/>
            <a:ext cx="1078992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2C211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Cloud Run</a:t>
            </a:r>
            <a:endParaRPr lang="en-US" sz="900" dirty="0"/>
          </a:p>
        </p:txBody>
      </p:sp>
      <p:sp>
        <p:nvSpPr>
          <p:cNvPr id="9" name="Text 7"/>
          <p:cNvSpPr/>
          <p:nvPr/>
        </p:nvSpPr>
        <p:spPr>
          <a:xfrm>
            <a:off x="640080" y="1078992"/>
            <a:ext cx="43891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2C211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NanhiPathshala</a:t>
            </a:r>
            <a:endParaRPr lang="en-US" sz="2800" dirty="0"/>
          </a:p>
        </p:txBody>
      </p:sp>
      <p:sp>
        <p:nvSpPr>
          <p:cNvPr id="10" name="Text 8"/>
          <p:cNvSpPr/>
          <p:nvPr/>
        </p:nvSpPr>
        <p:spPr>
          <a:xfrm>
            <a:off x="640080" y="1783080"/>
            <a:ext cx="493776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68554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Hindi-first AI tutoring agent for Indian mothers and children</a:t>
            </a:r>
            <a:endParaRPr lang="en-US" sz="1600" dirty="0"/>
          </a:p>
        </p:txBody>
      </p:sp>
      <p:sp>
        <p:nvSpPr>
          <p:cNvPr id="11" name="Text 9"/>
          <p:cNvSpPr/>
          <p:nvPr/>
        </p:nvSpPr>
        <p:spPr>
          <a:xfrm>
            <a:off x="640080" y="2560320"/>
            <a:ext cx="493776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68554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 mobile-first learning companion that teaches in simple Hindi, adapts when a child is confused, speaks calmly, and gives mothers a clear progress summary.</a:t>
            </a:r>
            <a:endParaRPr lang="en-US" sz="1150" dirty="0"/>
          </a:p>
        </p:txBody>
      </p:sp>
      <p:sp>
        <p:nvSpPr>
          <p:cNvPr id="12" name="Shape 10"/>
          <p:cNvSpPr/>
          <p:nvPr/>
        </p:nvSpPr>
        <p:spPr>
          <a:xfrm>
            <a:off x="640080" y="4069080"/>
            <a:ext cx="1783080" cy="1143000"/>
          </a:xfrm>
          <a:prstGeom prst="roundRect">
            <a:avLst>
              <a:gd name="adj" fmla="val 12800"/>
            </a:avLst>
          </a:prstGeom>
          <a:solidFill>
            <a:srgbClr val="FFFFFF">
              <a:alpha val="98000"/>
            </a:srgbClr>
          </a:solidFill>
          <a:ln w="12700">
            <a:solidFill>
              <a:srgbClr val="FF9B46">
                <a:alpha val="15000"/>
              </a:srgbClr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804672" y="4233672"/>
            <a:ext cx="1453896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2C211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Problem</a:t>
            </a:r>
            <a:endParaRPr lang="en-US" sz="1200" dirty="0"/>
          </a:p>
        </p:txBody>
      </p:sp>
      <p:sp>
        <p:nvSpPr>
          <p:cNvPr id="14" name="Text 12"/>
          <p:cNvSpPr/>
          <p:nvPr/>
        </p:nvSpPr>
        <p:spPr>
          <a:xfrm>
            <a:off x="804672" y="4526280"/>
            <a:ext cx="1453896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8554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English-first and stressful tools</a:t>
            </a:r>
            <a:endParaRPr lang="en-US" sz="1000" dirty="0"/>
          </a:p>
        </p:txBody>
      </p:sp>
      <p:sp>
        <p:nvSpPr>
          <p:cNvPr id="15" name="Shape 13"/>
          <p:cNvSpPr/>
          <p:nvPr/>
        </p:nvSpPr>
        <p:spPr>
          <a:xfrm>
            <a:off x="2578608" y="4069080"/>
            <a:ext cx="1783080" cy="1143000"/>
          </a:xfrm>
          <a:prstGeom prst="roundRect">
            <a:avLst>
              <a:gd name="adj" fmla="val 12800"/>
            </a:avLst>
          </a:prstGeom>
          <a:solidFill>
            <a:srgbClr val="FFFFFF">
              <a:alpha val="98000"/>
            </a:srgbClr>
          </a:solidFill>
          <a:ln w="12700">
            <a:solidFill>
              <a:srgbClr val="5E9F69">
                <a:alpha val="15000"/>
              </a:srgbClr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2743200" y="4233672"/>
            <a:ext cx="1453896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2C211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Solution</a:t>
            </a:r>
            <a:endParaRPr lang="en-US" sz="1200" dirty="0"/>
          </a:p>
        </p:txBody>
      </p:sp>
      <p:sp>
        <p:nvSpPr>
          <p:cNvPr id="17" name="Text 15"/>
          <p:cNvSpPr/>
          <p:nvPr/>
        </p:nvSpPr>
        <p:spPr>
          <a:xfrm>
            <a:off x="2743200" y="4526280"/>
            <a:ext cx="1453896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8554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Hindi tutor with gentle reteaching</a:t>
            </a:r>
            <a:endParaRPr lang="en-US" sz="1000" dirty="0"/>
          </a:p>
        </p:txBody>
      </p:sp>
      <p:sp>
        <p:nvSpPr>
          <p:cNvPr id="18" name="Shape 16"/>
          <p:cNvSpPr/>
          <p:nvPr/>
        </p:nvSpPr>
        <p:spPr>
          <a:xfrm>
            <a:off x="4517136" y="4069080"/>
            <a:ext cx="1783080" cy="1143000"/>
          </a:xfrm>
          <a:prstGeom prst="roundRect">
            <a:avLst>
              <a:gd name="adj" fmla="val 12800"/>
            </a:avLst>
          </a:prstGeom>
          <a:solidFill>
            <a:srgbClr val="FFFFFF">
              <a:alpha val="98000"/>
            </a:srgbClr>
          </a:solidFill>
          <a:ln w="12700">
            <a:solidFill>
              <a:srgbClr val="59B8D4">
                <a:alpha val="15000"/>
              </a:srgbClr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4681728" y="4233672"/>
            <a:ext cx="1453896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2C211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Build</a:t>
            </a:r>
            <a:endParaRPr lang="en-US" sz="1200" dirty="0"/>
          </a:p>
        </p:txBody>
      </p:sp>
      <p:sp>
        <p:nvSpPr>
          <p:cNvPr id="20" name="Text 18"/>
          <p:cNvSpPr/>
          <p:nvPr/>
        </p:nvSpPr>
        <p:spPr>
          <a:xfrm>
            <a:off x="4681728" y="4526280"/>
            <a:ext cx="1453896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8554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ADK + Gemini + Cloud Run</a:t>
            </a:r>
            <a:endParaRPr lang="en-US" sz="1000" dirty="0"/>
          </a:p>
        </p:txBody>
      </p:sp>
      <p:pic>
        <p:nvPicPr>
          <p:cNvPr id="21" name="Image 0" descr="/Volumes/CodeDrive/OpenSourceGithub/nanhipathshala/output/playwright/nanhipathshala-home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258077" y="713232"/>
            <a:ext cx="3314646" cy="5440680"/>
          </a:xfrm>
          <a:prstGeom prst="rect">
            <a:avLst/>
          </a:prstGeom>
        </p:spPr>
      </p:pic>
      <p:sp>
        <p:nvSpPr>
          <p:cNvPr id="22" name="Shape 19"/>
          <p:cNvSpPr/>
          <p:nvPr/>
        </p:nvSpPr>
        <p:spPr>
          <a:xfrm>
            <a:off x="6419088" y="585216"/>
            <a:ext cx="4992624" cy="5669280"/>
          </a:xfrm>
          <a:prstGeom prst="roundRect">
            <a:avLst>
              <a:gd name="adj" fmla="val 3297"/>
            </a:avLst>
          </a:prstGeom>
          <a:solidFill>
            <a:srgbClr val="FFFFFF">
              <a:alpha val="0"/>
            </a:srgbClr>
          </a:solidFill>
          <a:ln w="12700">
            <a:solidFill>
              <a:srgbClr val="E4D0B8"/>
            </a:solidFill>
            <a:prstDash val="solid"/>
          </a:ln>
        </p:spPr>
      </p:sp>
      <p:sp>
        <p:nvSpPr>
          <p:cNvPr id="23" name="Text 20"/>
          <p:cNvSpPr/>
          <p:nvPr/>
        </p:nvSpPr>
        <p:spPr>
          <a:xfrm>
            <a:off x="9162288" y="6263640"/>
            <a:ext cx="16916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68554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Live app screenshot</a:t>
            </a:r>
            <a:endParaRPr lang="en-US" sz="85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7ECD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228600" y="228600"/>
            <a:ext cx="11731752" cy="6400800"/>
          </a:xfrm>
          <a:prstGeom prst="rect">
            <a:avLst>
              <a:gd name="adj" fmla="val 2571"/>
            </a:avLst>
          </a:prstGeom>
          <a:solidFill>
            <a:srgbClr val="FFF9F1"/>
          </a:solidFill>
          <a:ln w="12700">
            <a:solidFill>
              <a:srgbClr val="EAD7BF">
                <a:alpha val="0"/>
              </a:srgbClr>
            </a:solidFill>
            <a:prstDash val="solid"/>
          </a:ln>
          <a:effectLst>
            <a:outerShdw sx="100000" sy="100000" kx="0" ky="0" algn="bl" rotWithShape="0" blurRad="19050" dist="15240" dir="2700000">
              <a:srgbClr val="8A5B36">
                <a:alpha val="10000"/>
              </a:srgbClr>
            </a:outerShdw>
          </a:effectLst>
        </p:spPr>
      </p:sp>
      <p:sp>
        <p:nvSpPr>
          <p:cNvPr id="3" name="Text 1"/>
          <p:cNvSpPr/>
          <p:nvPr/>
        </p:nvSpPr>
        <p:spPr>
          <a:xfrm>
            <a:off x="640080" y="530352"/>
            <a:ext cx="40233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A9501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PROBLEM AND USER</a:t>
            </a:r>
            <a:endParaRPr lang="en-US" sz="900" dirty="0"/>
          </a:p>
        </p:txBody>
      </p:sp>
      <p:sp>
        <p:nvSpPr>
          <p:cNvPr id="4" name="Text 2"/>
          <p:cNvSpPr/>
          <p:nvPr/>
        </p:nvSpPr>
        <p:spPr>
          <a:xfrm>
            <a:off x="640080" y="841248"/>
            <a:ext cx="6583680" cy="5303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300" b="1" dirty="0">
                <a:solidFill>
                  <a:srgbClr val="2C211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Why this matters for Indian families</a:t>
            </a:r>
            <a:endParaRPr lang="en-US" sz="2300" dirty="0"/>
          </a:p>
        </p:txBody>
      </p:sp>
      <p:sp>
        <p:nvSpPr>
          <p:cNvPr id="5" name="Text 3"/>
          <p:cNvSpPr/>
          <p:nvPr/>
        </p:nvSpPr>
        <p:spPr>
          <a:xfrm>
            <a:off x="640080" y="1481328"/>
            <a:ext cx="612648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8554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Mothers want to help children study at home, but most tools are not made for Hindi-first, low-pressure, early learning.</a:t>
            </a:r>
            <a:endParaRPr lang="en-US" sz="1100" dirty="0"/>
          </a:p>
        </p:txBody>
      </p:sp>
      <p:sp>
        <p:nvSpPr>
          <p:cNvPr id="6" name="Shape 4"/>
          <p:cNvSpPr/>
          <p:nvPr/>
        </p:nvSpPr>
        <p:spPr>
          <a:xfrm>
            <a:off x="658368" y="2240280"/>
            <a:ext cx="3675888" cy="3035808"/>
          </a:xfrm>
          <a:prstGeom prst="roundRect">
            <a:avLst>
              <a:gd name="adj" fmla="val 4819"/>
            </a:avLst>
          </a:prstGeom>
          <a:solidFill>
            <a:srgbClr val="FFFFFF">
              <a:alpha val="97000"/>
            </a:srgbClr>
          </a:solidFill>
          <a:ln w="12700">
            <a:solidFill>
              <a:srgbClr val="FF9B46">
                <a:alpha val="12000"/>
              </a:srgbClr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859536" y="2404872"/>
            <a:ext cx="327355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2C211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Core pain points</a:t>
            </a:r>
            <a:endParaRPr lang="en-US" sz="1500" dirty="0"/>
          </a:p>
        </p:txBody>
      </p:sp>
      <p:sp>
        <p:nvSpPr>
          <p:cNvPr id="8" name="Text 6"/>
          <p:cNvSpPr/>
          <p:nvPr/>
        </p:nvSpPr>
        <p:spPr>
          <a:xfrm>
            <a:off x="859536" y="2770632"/>
            <a:ext cx="3328416" cy="23774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52400" indent="-152400">
              <a:buSzPct val="100000"/>
              <a:buChar char="•"/>
            </a:pPr>
            <a:r>
              <a:rPr lang="en-US" sz="1050" dirty="0">
                <a:solidFill>
                  <a:srgbClr val="68554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Most edtech and AI tools are English-first and intimidating for young learners.</a:t>
            </a:r>
            <a:endParaRPr lang="en-US" sz="1050" dirty="0"/>
          </a:p>
          <a:p>
            <a:pPr marL="152400" indent="-152400">
              <a:buSzPct val="100000"/>
              <a:buChar char="•"/>
            </a:pPr>
            <a:r>
              <a:rPr lang="en-US" sz="1050" dirty="0">
                <a:solidFill>
                  <a:srgbClr val="68554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Children need short explanations, real-life examples, and repetition without shame.</a:t>
            </a:r>
            <a:endParaRPr lang="en-US" sz="1050" dirty="0"/>
          </a:p>
          <a:p>
            <a:pPr marL="152400" indent="-152400">
              <a:buSzPct val="100000"/>
              <a:buChar char="•"/>
            </a:pPr>
            <a:r>
              <a:rPr lang="en-US" sz="1050" dirty="0">
                <a:solidFill>
                  <a:srgbClr val="68554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Mothers want clarity, not a complex dashboard or long English reports.</a:t>
            </a:r>
            <a:endParaRPr lang="en-US" sz="1050" dirty="0"/>
          </a:p>
          <a:p>
            <a:pPr marL="152400" indent="-152400">
              <a:buSzPct val="100000"/>
              <a:buChar char="•"/>
            </a:pPr>
            <a:r>
              <a:rPr lang="en-US" sz="1050" dirty="0">
                <a:solidFill>
                  <a:srgbClr val="68554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Affordable home learning support is still a gap for many families.</a:t>
            </a:r>
            <a:endParaRPr lang="en-US" sz="1050" dirty="0"/>
          </a:p>
        </p:txBody>
      </p:sp>
      <p:sp>
        <p:nvSpPr>
          <p:cNvPr id="9" name="Shape 7"/>
          <p:cNvSpPr/>
          <p:nvPr/>
        </p:nvSpPr>
        <p:spPr>
          <a:xfrm>
            <a:off x="4526280" y="2240280"/>
            <a:ext cx="3182112" cy="3035808"/>
          </a:xfrm>
          <a:prstGeom prst="roundRect">
            <a:avLst>
              <a:gd name="adj" fmla="val 4819"/>
            </a:avLst>
          </a:prstGeom>
          <a:solidFill>
            <a:srgbClr val="FFFFFF">
              <a:alpha val="97000"/>
            </a:srgbClr>
          </a:solidFill>
          <a:ln w="12700">
            <a:solidFill>
              <a:srgbClr val="5E9F69">
                <a:alpha val="12000"/>
              </a:srgbClr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4727448" y="2404872"/>
            <a:ext cx="277977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2C211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Target users</a:t>
            </a:r>
            <a:endParaRPr lang="en-US" sz="1500" dirty="0"/>
          </a:p>
        </p:txBody>
      </p:sp>
      <p:sp>
        <p:nvSpPr>
          <p:cNvPr id="11" name="Text 9"/>
          <p:cNvSpPr/>
          <p:nvPr/>
        </p:nvSpPr>
        <p:spPr>
          <a:xfrm>
            <a:off x="4727448" y="2770632"/>
            <a:ext cx="2834640" cy="23774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52400" indent="-152400">
              <a:buSzPct val="100000"/>
              <a:buChar char="•"/>
            </a:pPr>
            <a:r>
              <a:rPr lang="en-US" sz="1050" dirty="0">
                <a:solidFill>
                  <a:srgbClr val="68554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Classes 1 to 5</a:t>
            </a:r>
            <a:endParaRPr lang="en-US" sz="1050" dirty="0"/>
          </a:p>
          <a:p>
            <a:pPr marL="152400" indent="-152400">
              <a:buSzPct val="100000"/>
              <a:buChar char="•"/>
            </a:pPr>
            <a:r>
              <a:rPr lang="en-US" sz="1050" dirty="0">
                <a:solidFill>
                  <a:srgbClr val="68554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Hindi-comfortable children</a:t>
            </a:r>
            <a:endParaRPr lang="en-US" sz="1050" dirty="0"/>
          </a:p>
          <a:p>
            <a:pPr marL="152400" indent="-152400">
              <a:buSzPct val="100000"/>
              <a:buChar char="•"/>
            </a:pPr>
            <a:r>
              <a:rPr lang="en-US" sz="1050" dirty="0">
                <a:solidFill>
                  <a:srgbClr val="68554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Mothers guiding study at home</a:t>
            </a:r>
            <a:endParaRPr lang="en-US" sz="1050" dirty="0"/>
          </a:p>
          <a:p>
            <a:pPr marL="152400" indent="-152400">
              <a:buSzPct val="100000"/>
              <a:buChar char="•"/>
            </a:pPr>
            <a:r>
              <a:rPr lang="en-US" sz="1050" dirty="0">
                <a:solidFill>
                  <a:srgbClr val="68554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Low-cost side-project friendly deployment</a:t>
            </a:r>
            <a:endParaRPr lang="en-US" sz="1050" dirty="0"/>
          </a:p>
        </p:txBody>
      </p:sp>
      <p:sp>
        <p:nvSpPr>
          <p:cNvPr id="12" name="Shape 10"/>
          <p:cNvSpPr/>
          <p:nvPr/>
        </p:nvSpPr>
        <p:spPr>
          <a:xfrm>
            <a:off x="7900416" y="2240280"/>
            <a:ext cx="3611880" cy="3035808"/>
          </a:xfrm>
          <a:prstGeom prst="roundRect">
            <a:avLst>
              <a:gd name="adj" fmla="val 4819"/>
            </a:avLst>
          </a:prstGeom>
          <a:solidFill>
            <a:srgbClr val="FFFFFF">
              <a:alpha val="97000"/>
            </a:srgbClr>
          </a:solidFill>
          <a:ln w="12700">
            <a:solidFill>
              <a:srgbClr val="59B8D4">
                <a:alpha val="12000"/>
              </a:srgbClr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8101584" y="2404872"/>
            <a:ext cx="320954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2C211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What success looks like</a:t>
            </a:r>
            <a:endParaRPr lang="en-US" sz="1500" dirty="0"/>
          </a:p>
        </p:txBody>
      </p:sp>
      <p:sp>
        <p:nvSpPr>
          <p:cNvPr id="14" name="Text 12"/>
          <p:cNvSpPr/>
          <p:nvPr/>
        </p:nvSpPr>
        <p:spPr>
          <a:xfrm>
            <a:off x="8101584" y="2770632"/>
            <a:ext cx="3264408" cy="23774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52400" indent="-152400">
              <a:buSzPct val="100000"/>
              <a:buChar char="•"/>
            </a:pPr>
            <a:r>
              <a:rPr lang="en-US" sz="1050" dirty="0">
                <a:solidFill>
                  <a:srgbClr val="68554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child feels safe to ask questions in Hindi.</a:t>
            </a:r>
            <a:endParaRPr lang="en-US" sz="1050" dirty="0"/>
          </a:p>
          <a:p>
            <a:pPr marL="152400" indent="-152400">
              <a:buSzPct val="100000"/>
              <a:buChar char="•"/>
            </a:pPr>
            <a:r>
              <a:rPr lang="en-US" sz="1050" dirty="0">
                <a:solidFill>
                  <a:srgbClr val="68554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tutor reteaches patiently when the child says “samajh nahi aaya”.</a:t>
            </a:r>
            <a:endParaRPr lang="en-US" sz="1050" dirty="0"/>
          </a:p>
          <a:p>
            <a:pPr marL="152400" indent="-152400">
              <a:buSzPct val="100000"/>
              <a:buChar char="•"/>
            </a:pPr>
            <a:r>
              <a:rPr lang="en-US" sz="1050" dirty="0">
                <a:solidFill>
                  <a:srgbClr val="68554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mother can see learned topic, weak area, and next home practice in one view.</a:t>
            </a:r>
            <a:endParaRPr lang="en-US" sz="105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7ECD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228600" y="228600"/>
            <a:ext cx="11731752" cy="6400800"/>
          </a:xfrm>
          <a:prstGeom prst="rect">
            <a:avLst>
              <a:gd name="adj" fmla="val 2571"/>
            </a:avLst>
          </a:prstGeom>
          <a:solidFill>
            <a:srgbClr val="FFF9F1"/>
          </a:solidFill>
          <a:ln w="12700">
            <a:solidFill>
              <a:srgbClr val="EAD7BF">
                <a:alpha val="0"/>
              </a:srgbClr>
            </a:solidFill>
            <a:prstDash val="solid"/>
          </a:ln>
          <a:effectLst>
            <a:outerShdw sx="100000" sy="100000" kx="0" ky="0" algn="bl" rotWithShape="0" blurRad="19050" dist="15240" dir="2700000">
              <a:srgbClr val="8A5B36">
                <a:alpha val="10000"/>
              </a:srgbClr>
            </a:outerShdw>
          </a:effectLst>
        </p:spPr>
      </p:sp>
      <p:sp>
        <p:nvSpPr>
          <p:cNvPr id="3" name="Text 1"/>
          <p:cNvSpPr/>
          <p:nvPr/>
        </p:nvSpPr>
        <p:spPr>
          <a:xfrm>
            <a:off x="640080" y="530352"/>
            <a:ext cx="40233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A9501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PRODUCT</a:t>
            </a:r>
            <a:endParaRPr lang="en-US" sz="900" dirty="0"/>
          </a:p>
        </p:txBody>
      </p:sp>
      <p:sp>
        <p:nvSpPr>
          <p:cNvPr id="4" name="Text 2"/>
          <p:cNvSpPr/>
          <p:nvPr/>
        </p:nvSpPr>
        <p:spPr>
          <a:xfrm>
            <a:off x="640080" y="841248"/>
            <a:ext cx="6583680" cy="5303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300" b="1" dirty="0">
                <a:solidFill>
                  <a:srgbClr val="2C211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What we built in the MVP</a:t>
            </a:r>
            <a:endParaRPr lang="en-US" sz="2300" dirty="0"/>
          </a:p>
        </p:txBody>
      </p:sp>
      <p:sp>
        <p:nvSpPr>
          <p:cNvPr id="5" name="Text 3"/>
          <p:cNvSpPr/>
          <p:nvPr/>
        </p:nvSpPr>
        <p:spPr>
          <a:xfrm>
            <a:off x="640080" y="1481328"/>
            <a:ext cx="612648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8554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 simple mobile web experience with one clear flow: choose the child context, ask by voice or text, get a calm Hindi explanation, then view practice and parent summary.</a:t>
            </a:r>
            <a:endParaRPr lang="en-US" sz="1100" dirty="0"/>
          </a:p>
        </p:txBody>
      </p:sp>
      <p:sp>
        <p:nvSpPr>
          <p:cNvPr id="6" name="Shape 4"/>
          <p:cNvSpPr/>
          <p:nvPr/>
        </p:nvSpPr>
        <p:spPr>
          <a:xfrm>
            <a:off x="658368" y="2377440"/>
            <a:ext cx="3474720" cy="1234440"/>
          </a:xfrm>
          <a:prstGeom prst="roundRect">
            <a:avLst>
              <a:gd name="adj" fmla="val 11852"/>
            </a:avLst>
          </a:prstGeom>
          <a:solidFill>
            <a:srgbClr val="FFFFFF">
              <a:alpha val="95000"/>
            </a:srgbClr>
          </a:solidFill>
          <a:ln w="12700">
            <a:solidFill>
              <a:srgbClr val="FF9B46">
                <a:alpha val="10000"/>
              </a:srgbClr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822960" y="2542032"/>
            <a:ext cx="402336" cy="402336"/>
          </a:xfrm>
          <a:prstGeom prst="roundRect">
            <a:avLst>
              <a:gd name="adj" fmla="val 31818"/>
            </a:avLst>
          </a:prstGeom>
          <a:solidFill>
            <a:srgbClr val="FF9B46">
              <a:alpha val="90000"/>
            </a:srgbClr>
          </a:solidFill>
          <a:ln w="12700">
            <a:solidFill>
              <a:srgbClr val="FF9B46">
                <a:alpha val="0"/>
              </a:srgbClr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822960" y="2596896"/>
            <a:ext cx="402336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2C211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1335024" y="2560320"/>
            <a:ext cx="2633472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2C211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Set the child context</a:t>
            </a:r>
            <a:endParaRPr lang="en-US" sz="1250" dirty="0"/>
          </a:p>
        </p:txBody>
      </p:sp>
      <p:sp>
        <p:nvSpPr>
          <p:cNvPr id="10" name="Text 8"/>
          <p:cNvSpPr/>
          <p:nvPr/>
        </p:nvSpPr>
        <p:spPr>
          <a:xfrm>
            <a:off x="1335024" y="2816352"/>
            <a:ext cx="2633472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80" dirty="0">
                <a:solidFill>
                  <a:srgbClr val="68554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Choose class, subject, and child mood in one simple setup area.</a:t>
            </a:r>
            <a:endParaRPr lang="en-US" sz="980" dirty="0"/>
          </a:p>
        </p:txBody>
      </p:sp>
      <p:sp>
        <p:nvSpPr>
          <p:cNvPr id="11" name="Shape 9"/>
          <p:cNvSpPr/>
          <p:nvPr/>
        </p:nvSpPr>
        <p:spPr>
          <a:xfrm>
            <a:off x="658368" y="3657600"/>
            <a:ext cx="3474720" cy="1234440"/>
          </a:xfrm>
          <a:prstGeom prst="roundRect">
            <a:avLst>
              <a:gd name="adj" fmla="val 11852"/>
            </a:avLst>
          </a:prstGeom>
          <a:solidFill>
            <a:srgbClr val="FFFFFF">
              <a:alpha val="95000"/>
            </a:srgbClr>
          </a:solidFill>
          <a:ln w="12700">
            <a:solidFill>
              <a:srgbClr val="59B8D4">
                <a:alpha val="10000"/>
              </a:srgbClr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822960" y="3822192"/>
            <a:ext cx="402336" cy="402336"/>
          </a:xfrm>
          <a:prstGeom prst="roundRect">
            <a:avLst>
              <a:gd name="adj" fmla="val 31818"/>
            </a:avLst>
          </a:prstGeom>
          <a:solidFill>
            <a:srgbClr val="59B8D4">
              <a:alpha val="90000"/>
            </a:srgbClr>
          </a:solidFill>
          <a:ln w="12700">
            <a:solidFill>
              <a:srgbClr val="59B8D4">
                <a:alpha val="0"/>
              </a:srgbClr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822960" y="3877056"/>
            <a:ext cx="402336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2C211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</a:t>
            </a:r>
            <a:endParaRPr lang="en-US" sz="1200" dirty="0"/>
          </a:p>
        </p:txBody>
      </p:sp>
      <p:sp>
        <p:nvSpPr>
          <p:cNvPr id="14" name="Text 12"/>
          <p:cNvSpPr/>
          <p:nvPr/>
        </p:nvSpPr>
        <p:spPr>
          <a:xfrm>
            <a:off x="1335024" y="3840480"/>
            <a:ext cx="2633472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2C211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Tap to talk</a:t>
            </a:r>
            <a:endParaRPr lang="en-US" sz="1250" dirty="0"/>
          </a:p>
        </p:txBody>
      </p:sp>
      <p:sp>
        <p:nvSpPr>
          <p:cNvPr id="15" name="Text 13"/>
          <p:cNvSpPr/>
          <p:nvPr/>
        </p:nvSpPr>
        <p:spPr>
          <a:xfrm>
            <a:off x="1335024" y="4096512"/>
            <a:ext cx="2633472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80" dirty="0">
                <a:solidFill>
                  <a:srgbClr val="68554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child can use a large voice button or type a simple question.</a:t>
            </a:r>
            <a:endParaRPr lang="en-US" sz="980" dirty="0"/>
          </a:p>
        </p:txBody>
      </p:sp>
      <p:sp>
        <p:nvSpPr>
          <p:cNvPr id="16" name="Shape 14"/>
          <p:cNvSpPr/>
          <p:nvPr/>
        </p:nvSpPr>
        <p:spPr>
          <a:xfrm>
            <a:off x="658368" y="4937760"/>
            <a:ext cx="3474720" cy="1234440"/>
          </a:xfrm>
          <a:prstGeom prst="roundRect">
            <a:avLst>
              <a:gd name="adj" fmla="val 11852"/>
            </a:avLst>
          </a:prstGeom>
          <a:solidFill>
            <a:srgbClr val="FFFFFF">
              <a:alpha val="95000"/>
            </a:srgbClr>
          </a:solidFill>
          <a:ln w="12700">
            <a:solidFill>
              <a:srgbClr val="5E9F69">
                <a:alpha val="10000"/>
              </a:srgbClr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822960" y="5102352"/>
            <a:ext cx="402336" cy="402336"/>
          </a:xfrm>
          <a:prstGeom prst="roundRect">
            <a:avLst>
              <a:gd name="adj" fmla="val 31818"/>
            </a:avLst>
          </a:prstGeom>
          <a:solidFill>
            <a:srgbClr val="5E9F69">
              <a:alpha val="90000"/>
            </a:srgbClr>
          </a:solidFill>
          <a:ln w="12700">
            <a:solidFill>
              <a:srgbClr val="5E9F69">
                <a:alpha val="0"/>
              </a:srgbClr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822960" y="5157216"/>
            <a:ext cx="402336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2C211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</a:t>
            </a:r>
            <a:endParaRPr lang="en-US" sz="1200" dirty="0"/>
          </a:p>
        </p:txBody>
      </p:sp>
      <p:sp>
        <p:nvSpPr>
          <p:cNvPr id="19" name="Text 17"/>
          <p:cNvSpPr/>
          <p:nvPr/>
        </p:nvSpPr>
        <p:spPr>
          <a:xfrm>
            <a:off x="1335024" y="5120640"/>
            <a:ext cx="2633472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2C211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Learn and retry</a:t>
            </a:r>
            <a:endParaRPr lang="en-US" sz="1250" dirty="0"/>
          </a:p>
        </p:txBody>
      </p:sp>
      <p:sp>
        <p:nvSpPr>
          <p:cNvPr id="20" name="Text 18"/>
          <p:cNvSpPr/>
          <p:nvPr/>
        </p:nvSpPr>
        <p:spPr>
          <a:xfrm>
            <a:off x="1335024" y="5376672"/>
            <a:ext cx="2633472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80" dirty="0">
                <a:solidFill>
                  <a:srgbClr val="68554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agent explains in Hindi and can reteach more simply when needed.</a:t>
            </a:r>
            <a:endParaRPr lang="en-US" sz="980" dirty="0"/>
          </a:p>
        </p:txBody>
      </p:sp>
      <p:sp>
        <p:nvSpPr>
          <p:cNvPr id="21" name="Shape 19"/>
          <p:cNvSpPr/>
          <p:nvPr/>
        </p:nvSpPr>
        <p:spPr>
          <a:xfrm>
            <a:off x="4370832" y="2331720"/>
            <a:ext cx="3246120" cy="3749040"/>
          </a:xfrm>
          <a:prstGeom prst="roundRect">
            <a:avLst>
              <a:gd name="adj" fmla="val 4507"/>
            </a:avLst>
          </a:prstGeom>
          <a:solidFill>
            <a:srgbClr val="FFFFFF">
              <a:alpha val="97000"/>
            </a:srgbClr>
          </a:solidFill>
          <a:ln w="12700">
            <a:solidFill>
              <a:srgbClr val="FF9B46">
                <a:alpha val="12000"/>
              </a:srgbClr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4572000" y="2496312"/>
            <a:ext cx="284378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2C211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MVP features</a:t>
            </a:r>
            <a:endParaRPr lang="en-US" sz="1500" dirty="0"/>
          </a:p>
        </p:txBody>
      </p:sp>
      <p:sp>
        <p:nvSpPr>
          <p:cNvPr id="23" name="Text 21"/>
          <p:cNvSpPr/>
          <p:nvPr/>
        </p:nvSpPr>
        <p:spPr>
          <a:xfrm>
            <a:off x="4572000" y="2862072"/>
            <a:ext cx="2898648" cy="30906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52400" indent="-152400">
              <a:buSzPct val="100000"/>
              <a:buChar char="•"/>
            </a:pPr>
            <a:r>
              <a:rPr lang="en-US" sz="1050" dirty="0">
                <a:solidFill>
                  <a:srgbClr val="68554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Hindi-first tutoring</a:t>
            </a:r>
            <a:endParaRPr lang="en-US" sz="1050" dirty="0"/>
          </a:p>
          <a:p>
            <a:pPr marL="152400" indent="-152400">
              <a:buSzPct val="100000"/>
              <a:buChar char="•"/>
            </a:pPr>
            <a:r>
              <a:rPr lang="en-US" sz="1050" dirty="0">
                <a:solidFill>
                  <a:srgbClr val="68554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Browser audio input and spoken response</a:t>
            </a:r>
            <a:endParaRPr lang="en-US" sz="1050" dirty="0"/>
          </a:p>
          <a:p>
            <a:pPr marL="152400" indent="-152400">
              <a:buSzPct val="100000"/>
              <a:buChar char="•"/>
            </a:pPr>
            <a:r>
              <a:rPr lang="en-US" sz="1050" dirty="0">
                <a:solidFill>
                  <a:srgbClr val="68554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Class, subject, and mood selection</a:t>
            </a:r>
            <a:endParaRPr lang="en-US" sz="1050" dirty="0"/>
          </a:p>
          <a:p>
            <a:pPr marL="152400" indent="-152400">
              <a:buSzPct val="100000"/>
              <a:buChar char="•"/>
            </a:pPr>
            <a:r>
              <a:rPr lang="en-US" sz="1050" dirty="0">
                <a:solidFill>
                  <a:srgbClr val="68554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Quiz prompts for quick practice</a:t>
            </a:r>
            <a:endParaRPr lang="en-US" sz="1050" dirty="0"/>
          </a:p>
          <a:p>
            <a:pPr marL="152400" indent="-152400">
              <a:buSzPct val="100000"/>
              <a:buChar char="•"/>
            </a:pPr>
            <a:r>
              <a:rPr lang="en-US" sz="1050" dirty="0">
                <a:solidFill>
                  <a:srgbClr val="68554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Parent summary card</a:t>
            </a:r>
            <a:endParaRPr lang="en-US" sz="1050" dirty="0"/>
          </a:p>
        </p:txBody>
      </p:sp>
      <p:sp>
        <p:nvSpPr>
          <p:cNvPr id="24" name="Shape 22"/>
          <p:cNvSpPr/>
          <p:nvPr/>
        </p:nvSpPr>
        <p:spPr>
          <a:xfrm>
            <a:off x="7845552" y="2331720"/>
            <a:ext cx="3611880" cy="3749040"/>
          </a:xfrm>
          <a:prstGeom prst="roundRect">
            <a:avLst>
              <a:gd name="adj" fmla="val 4051"/>
            </a:avLst>
          </a:prstGeom>
          <a:solidFill>
            <a:srgbClr val="FFFFFF">
              <a:alpha val="97000"/>
            </a:srgbClr>
          </a:solidFill>
          <a:ln w="12700">
            <a:solidFill>
              <a:srgbClr val="5E9F69">
                <a:alpha val="12000"/>
              </a:srgbClr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8046720" y="2496312"/>
            <a:ext cx="320954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2C211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Why the UI is different</a:t>
            </a:r>
            <a:endParaRPr lang="en-US" sz="1500" dirty="0"/>
          </a:p>
        </p:txBody>
      </p:sp>
      <p:sp>
        <p:nvSpPr>
          <p:cNvPr id="26" name="Text 24"/>
          <p:cNvSpPr/>
          <p:nvPr/>
        </p:nvSpPr>
        <p:spPr>
          <a:xfrm>
            <a:off x="8046720" y="2862072"/>
            <a:ext cx="3264408" cy="30906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52400" indent="-152400">
              <a:buSzPct val="100000"/>
              <a:buChar char="•"/>
            </a:pPr>
            <a:r>
              <a:rPr lang="en-US" sz="1050" dirty="0">
                <a:solidFill>
                  <a:srgbClr val="68554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Not a generic transcript-style chatbot.</a:t>
            </a:r>
            <a:endParaRPr lang="en-US" sz="1050" dirty="0"/>
          </a:p>
          <a:p>
            <a:pPr marL="152400" indent="-152400">
              <a:buSzPct val="100000"/>
              <a:buChar char="•"/>
            </a:pPr>
            <a:r>
              <a:rPr lang="en-US" sz="1050" dirty="0">
                <a:solidFill>
                  <a:srgbClr val="68554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Large buttons and mobile-friendly spacing.</a:t>
            </a:r>
            <a:endParaRPr lang="en-US" sz="1050" dirty="0"/>
          </a:p>
          <a:p>
            <a:pPr marL="152400" indent="-152400">
              <a:buSzPct val="100000"/>
              <a:buChar char="•"/>
            </a:pPr>
            <a:r>
              <a:rPr lang="en-US" sz="1050" dirty="0">
                <a:solidFill>
                  <a:srgbClr val="68554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Warm Indian visual language with Hindi default.</a:t>
            </a:r>
            <a:endParaRPr lang="en-US" sz="1050" dirty="0"/>
          </a:p>
          <a:p>
            <a:pPr marL="152400" indent="-152400">
              <a:buSzPct val="100000"/>
              <a:buChar char="•"/>
            </a:pPr>
            <a:r>
              <a:rPr lang="en-US" sz="1050" dirty="0">
                <a:solidFill>
                  <a:srgbClr val="68554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Designed for low-tech confidence, not power-user complexity.</a:t>
            </a:r>
            <a:endParaRPr lang="en-US" sz="105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7ECD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228600" y="228600"/>
            <a:ext cx="11731752" cy="6400800"/>
          </a:xfrm>
          <a:prstGeom prst="rect">
            <a:avLst>
              <a:gd name="adj" fmla="val 2571"/>
            </a:avLst>
          </a:prstGeom>
          <a:solidFill>
            <a:srgbClr val="FFF9F1"/>
          </a:solidFill>
          <a:ln w="12700">
            <a:solidFill>
              <a:srgbClr val="EAD7BF">
                <a:alpha val="0"/>
              </a:srgbClr>
            </a:solidFill>
            <a:prstDash val="solid"/>
          </a:ln>
          <a:effectLst>
            <a:outerShdw sx="100000" sy="100000" kx="0" ky="0" algn="bl" rotWithShape="0" blurRad="19050" dist="15240" dir="2700000">
              <a:srgbClr val="8A5B36">
                <a:alpha val="10000"/>
              </a:srgbClr>
            </a:outerShdw>
          </a:effectLst>
        </p:spPr>
      </p:sp>
      <p:sp>
        <p:nvSpPr>
          <p:cNvPr id="3" name="Text 1"/>
          <p:cNvSpPr/>
          <p:nvPr/>
        </p:nvSpPr>
        <p:spPr>
          <a:xfrm>
            <a:off x="640080" y="530352"/>
            <a:ext cx="40233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A9501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ARCHITECTURE</a:t>
            </a:r>
            <a:endParaRPr lang="en-US" sz="900" dirty="0"/>
          </a:p>
        </p:txBody>
      </p:sp>
      <p:sp>
        <p:nvSpPr>
          <p:cNvPr id="4" name="Text 2"/>
          <p:cNvSpPr/>
          <p:nvPr/>
        </p:nvSpPr>
        <p:spPr>
          <a:xfrm>
            <a:off x="640080" y="841248"/>
            <a:ext cx="6583680" cy="5303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300" b="1" dirty="0">
                <a:solidFill>
                  <a:srgbClr val="2C211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Built as a real Google ADK agent</a:t>
            </a:r>
            <a:endParaRPr lang="en-US" sz="2300" dirty="0"/>
          </a:p>
        </p:txBody>
      </p:sp>
      <p:sp>
        <p:nvSpPr>
          <p:cNvPr id="5" name="Text 3"/>
          <p:cNvSpPr/>
          <p:nvPr/>
        </p:nvSpPr>
        <p:spPr>
          <a:xfrm>
            <a:off x="640080" y="1481328"/>
            <a:ext cx="612648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8554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NanhiPathshala is a genuine agent implementation for Track 1. It has a root agent, tools, session-aware execution, Gemini on Vertex AI, and Cloud Run deployment.</a:t>
            </a:r>
            <a:endParaRPr lang="en-US" sz="1100" dirty="0"/>
          </a:p>
        </p:txBody>
      </p:sp>
      <p:sp>
        <p:nvSpPr>
          <p:cNvPr id="6" name="Shape 4"/>
          <p:cNvSpPr/>
          <p:nvPr/>
        </p:nvSpPr>
        <p:spPr>
          <a:xfrm>
            <a:off x="868680" y="2560320"/>
            <a:ext cx="2011680" cy="914400"/>
          </a:xfrm>
          <a:prstGeom prst="roundRect">
            <a:avLst>
              <a:gd name="adj" fmla="val 16000"/>
            </a:avLst>
          </a:prstGeom>
          <a:solidFill>
            <a:srgbClr val="FFFFFF">
              <a:alpha val="98000"/>
            </a:srgbClr>
          </a:solidFill>
          <a:ln w="12700">
            <a:solidFill>
              <a:srgbClr val="FF9B46">
                <a:alpha val="12000"/>
              </a:srgbClr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1014984" y="2724912"/>
            <a:ext cx="1719072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60" b="1" dirty="0">
                <a:solidFill>
                  <a:srgbClr val="2C211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Mobile Web App</a:t>
            </a:r>
            <a:endParaRPr lang="en-US" sz="1260" dirty="0"/>
          </a:p>
        </p:txBody>
      </p:sp>
      <p:sp>
        <p:nvSpPr>
          <p:cNvPr id="8" name="Text 6"/>
          <p:cNvSpPr/>
          <p:nvPr/>
        </p:nvSpPr>
        <p:spPr>
          <a:xfrm>
            <a:off x="1014984" y="3017520"/>
            <a:ext cx="1719072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80" dirty="0">
                <a:solidFill>
                  <a:srgbClr val="68554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Hindi-first UI for child and mother</a:t>
            </a:r>
            <a:endParaRPr lang="en-US" sz="980" dirty="0"/>
          </a:p>
        </p:txBody>
      </p:sp>
      <p:sp>
        <p:nvSpPr>
          <p:cNvPr id="9" name="Shape 7"/>
          <p:cNvSpPr/>
          <p:nvPr/>
        </p:nvSpPr>
        <p:spPr>
          <a:xfrm>
            <a:off x="3154680" y="2560320"/>
            <a:ext cx="2148840" cy="914400"/>
          </a:xfrm>
          <a:prstGeom prst="roundRect">
            <a:avLst>
              <a:gd name="adj" fmla="val 16000"/>
            </a:avLst>
          </a:prstGeom>
          <a:solidFill>
            <a:srgbClr val="FFFFFF">
              <a:alpha val="98000"/>
            </a:srgbClr>
          </a:solidFill>
          <a:ln w="12700">
            <a:solidFill>
              <a:srgbClr val="59B8D4">
                <a:alpha val="12000"/>
              </a:srgbClr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3300984" y="2724912"/>
            <a:ext cx="1856232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60" b="1" dirty="0">
                <a:solidFill>
                  <a:srgbClr val="2C211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Cloud Run Frontend</a:t>
            </a:r>
            <a:endParaRPr lang="en-US" sz="1260" dirty="0"/>
          </a:p>
        </p:txBody>
      </p:sp>
      <p:sp>
        <p:nvSpPr>
          <p:cNvPr id="11" name="Text 9"/>
          <p:cNvSpPr/>
          <p:nvPr/>
        </p:nvSpPr>
        <p:spPr>
          <a:xfrm>
            <a:off x="3300984" y="3017520"/>
            <a:ext cx="1856232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80" dirty="0">
                <a:solidFill>
                  <a:srgbClr val="68554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Public web service</a:t>
            </a:r>
            <a:endParaRPr lang="en-US" sz="980" dirty="0"/>
          </a:p>
        </p:txBody>
      </p:sp>
      <p:sp>
        <p:nvSpPr>
          <p:cNvPr id="12" name="Shape 10"/>
          <p:cNvSpPr/>
          <p:nvPr/>
        </p:nvSpPr>
        <p:spPr>
          <a:xfrm>
            <a:off x="5623560" y="2560320"/>
            <a:ext cx="2331720" cy="914400"/>
          </a:xfrm>
          <a:prstGeom prst="roundRect">
            <a:avLst>
              <a:gd name="adj" fmla="val 16000"/>
            </a:avLst>
          </a:prstGeom>
          <a:solidFill>
            <a:srgbClr val="FFFFFF">
              <a:alpha val="98000"/>
            </a:srgbClr>
          </a:solidFill>
          <a:ln w="12700">
            <a:solidFill>
              <a:srgbClr val="5E9F69">
                <a:alpha val="12000"/>
              </a:srgbClr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5769864" y="2724912"/>
            <a:ext cx="2039112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60" b="1" dirty="0">
                <a:solidFill>
                  <a:srgbClr val="2C211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Cloud Run ADK API</a:t>
            </a:r>
            <a:endParaRPr lang="en-US" sz="1260" dirty="0"/>
          </a:p>
        </p:txBody>
      </p:sp>
      <p:sp>
        <p:nvSpPr>
          <p:cNvPr id="14" name="Text 12"/>
          <p:cNvSpPr/>
          <p:nvPr/>
        </p:nvSpPr>
        <p:spPr>
          <a:xfrm>
            <a:off x="5769864" y="3017520"/>
            <a:ext cx="2039112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80" dirty="0">
                <a:solidFill>
                  <a:srgbClr val="68554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Session-based tutor runtime</a:t>
            </a:r>
            <a:endParaRPr lang="en-US" sz="980" dirty="0"/>
          </a:p>
        </p:txBody>
      </p:sp>
      <p:sp>
        <p:nvSpPr>
          <p:cNvPr id="15" name="Shape 13"/>
          <p:cNvSpPr/>
          <p:nvPr/>
        </p:nvSpPr>
        <p:spPr>
          <a:xfrm>
            <a:off x="8275320" y="2560320"/>
            <a:ext cx="2651760" cy="914400"/>
          </a:xfrm>
          <a:prstGeom prst="roundRect">
            <a:avLst>
              <a:gd name="adj" fmla="val 16000"/>
            </a:avLst>
          </a:prstGeom>
          <a:solidFill>
            <a:srgbClr val="FFFFFF">
              <a:alpha val="98000"/>
            </a:srgbClr>
          </a:solidFill>
          <a:ln w="12700">
            <a:solidFill>
              <a:srgbClr val="FF9B46">
                <a:alpha val="12000"/>
              </a:srgbClr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8421624" y="2724912"/>
            <a:ext cx="2359152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60" b="1" dirty="0">
                <a:solidFill>
                  <a:srgbClr val="2C211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Gemini on Vertex AI</a:t>
            </a:r>
            <a:endParaRPr lang="en-US" sz="1260" dirty="0"/>
          </a:p>
        </p:txBody>
      </p:sp>
      <p:sp>
        <p:nvSpPr>
          <p:cNvPr id="17" name="Text 15"/>
          <p:cNvSpPr/>
          <p:nvPr/>
        </p:nvSpPr>
        <p:spPr>
          <a:xfrm>
            <a:off x="8421624" y="3017520"/>
            <a:ext cx="2359152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80" dirty="0">
                <a:solidFill>
                  <a:srgbClr val="68554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gemini-2.5-flash model</a:t>
            </a:r>
            <a:endParaRPr lang="en-US" sz="980" dirty="0"/>
          </a:p>
        </p:txBody>
      </p:sp>
      <p:sp>
        <p:nvSpPr>
          <p:cNvPr id="18" name="Shape 16"/>
          <p:cNvSpPr/>
          <p:nvPr/>
        </p:nvSpPr>
        <p:spPr>
          <a:xfrm>
            <a:off x="841248" y="4160520"/>
            <a:ext cx="3383280" cy="1627632"/>
          </a:xfrm>
          <a:prstGeom prst="roundRect">
            <a:avLst>
              <a:gd name="adj" fmla="val 8989"/>
            </a:avLst>
          </a:prstGeom>
          <a:solidFill>
            <a:srgbClr val="FFFFFF">
              <a:alpha val="97000"/>
            </a:srgbClr>
          </a:solidFill>
          <a:ln w="12700">
            <a:solidFill>
              <a:srgbClr val="5E9F69">
                <a:alpha val="12000"/>
              </a:srgbClr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1042416" y="4325112"/>
            <a:ext cx="298094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2C211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ADK agent proof</a:t>
            </a:r>
            <a:endParaRPr lang="en-US" sz="1500" dirty="0"/>
          </a:p>
        </p:txBody>
      </p:sp>
      <p:sp>
        <p:nvSpPr>
          <p:cNvPr id="20" name="Text 18"/>
          <p:cNvSpPr/>
          <p:nvPr/>
        </p:nvSpPr>
        <p:spPr>
          <a:xfrm>
            <a:off x="1042416" y="4690872"/>
            <a:ext cx="3035808" cy="96926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52400" indent="-152400">
              <a:buSzPct val="100000"/>
              <a:buChar char="•"/>
            </a:pPr>
            <a:r>
              <a:rPr lang="en-US" sz="1050" dirty="0">
                <a:solidFill>
                  <a:srgbClr val="68554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Defined root agent</a:t>
            </a:r>
            <a:endParaRPr lang="en-US" sz="1050" dirty="0"/>
          </a:p>
          <a:p>
            <a:pPr marL="152400" indent="-152400">
              <a:buSzPct val="100000"/>
              <a:buChar char="•"/>
            </a:pPr>
            <a:r>
              <a:rPr lang="en-US" sz="1050" dirty="0">
                <a:solidFill>
                  <a:srgbClr val="68554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Tool-backed workflows</a:t>
            </a:r>
            <a:endParaRPr lang="en-US" sz="1050" dirty="0"/>
          </a:p>
          <a:p>
            <a:pPr marL="152400" indent="-152400">
              <a:buSzPct val="100000"/>
              <a:buChar char="•"/>
            </a:pPr>
            <a:r>
              <a:rPr lang="en-US" sz="1050" dirty="0">
                <a:solidFill>
                  <a:srgbClr val="68554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Stateful session execution</a:t>
            </a:r>
            <a:endParaRPr lang="en-US" sz="1050" dirty="0"/>
          </a:p>
        </p:txBody>
      </p:sp>
      <p:sp>
        <p:nvSpPr>
          <p:cNvPr id="21" name="Shape 19"/>
          <p:cNvSpPr/>
          <p:nvPr/>
        </p:nvSpPr>
        <p:spPr>
          <a:xfrm>
            <a:off x="4407408" y="4160520"/>
            <a:ext cx="3383280" cy="1627632"/>
          </a:xfrm>
          <a:prstGeom prst="roundRect">
            <a:avLst>
              <a:gd name="adj" fmla="val 8989"/>
            </a:avLst>
          </a:prstGeom>
          <a:solidFill>
            <a:srgbClr val="FFFFFF">
              <a:alpha val="97000"/>
            </a:srgbClr>
          </a:solidFill>
          <a:ln w="12700">
            <a:solidFill>
              <a:srgbClr val="FF9B46">
                <a:alpha val="12000"/>
              </a:srgbClr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4608576" y="4325112"/>
            <a:ext cx="298094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2C211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Current tools</a:t>
            </a:r>
            <a:endParaRPr lang="en-US" sz="1500" dirty="0"/>
          </a:p>
        </p:txBody>
      </p:sp>
      <p:sp>
        <p:nvSpPr>
          <p:cNvPr id="23" name="Text 21"/>
          <p:cNvSpPr/>
          <p:nvPr/>
        </p:nvSpPr>
        <p:spPr>
          <a:xfrm>
            <a:off x="4608576" y="4690872"/>
            <a:ext cx="3035808" cy="96926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52400" indent="-152400">
              <a:buSzPct val="100000"/>
              <a:buChar char="•"/>
            </a:pPr>
            <a:r>
              <a:rPr lang="en-US" sz="1050" dirty="0">
                <a:solidFill>
                  <a:srgbClr val="68554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generate_quiz</a:t>
            </a:r>
            <a:endParaRPr lang="en-US" sz="1050" dirty="0"/>
          </a:p>
          <a:p>
            <a:pPr marL="152400" indent="-152400">
              <a:buSzPct val="100000"/>
              <a:buChar char="•"/>
            </a:pPr>
            <a:r>
              <a:rPr lang="en-US" sz="1050" dirty="0">
                <a:solidFill>
                  <a:srgbClr val="68554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reteach_topic</a:t>
            </a:r>
            <a:endParaRPr lang="en-US" sz="1050" dirty="0"/>
          </a:p>
          <a:p>
            <a:pPr marL="152400" indent="-152400">
              <a:buSzPct val="100000"/>
              <a:buChar char="•"/>
            </a:pPr>
            <a:r>
              <a:rPr lang="en-US" sz="1050" dirty="0">
                <a:solidFill>
                  <a:srgbClr val="68554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generate_parent_summary</a:t>
            </a:r>
            <a:endParaRPr lang="en-US" sz="1050" dirty="0"/>
          </a:p>
        </p:txBody>
      </p:sp>
      <p:sp>
        <p:nvSpPr>
          <p:cNvPr id="24" name="Shape 22"/>
          <p:cNvSpPr/>
          <p:nvPr/>
        </p:nvSpPr>
        <p:spPr>
          <a:xfrm>
            <a:off x="7973568" y="4160520"/>
            <a:ext cx="3383280" cy="1627632"/>
          </a:xfrm>
          <a:prstGeom prst="roundRect">
            <a:avLst>
              <a:gd name="adj" fmla="val 8989"/>
            </a:avLst>
          </a:prstGeom>
          <a:solidFill>
            <a:srgbClr val="FFFFFF">
              <a:alpha val="97000"/>
            </a:srgbClr>
          </a:solidFill>
          <a:ln w="12700">
            <a:solidFill>
              <a:srgbClr val="59B8D4">
                <a:alpha val="12000"/>
              </a:srgbClr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8174736" y="4325112"/>
            <a:ext cx="298094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2C211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Cloud alignment</a:t>
            </a:r>
            <a:endParaRPr lang="en-US" sz="1500" dirty="0"/>
          </a:p>
        </p:txBody>
      </p:sp>
      <p:sp>
        <p:nvSpPr>
          <p:cNvPr id="26" name="Text 24"/>
          <p:cNvSpPr/>
          <p:nvPr/>
        </p:nvSpPr>
        <p:spPr>
          <a:xfrm>
            <a:off x="8174736" y="4690872"/>
            <a:ext cx="3035808" cy="96926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52400" indent="-152400">
              <a:buSzPct val="100000"/>
              <a:buChar char="•"/>
            </a:pPr>
            <a:r>
              <a:rPr lang="en-US" sz="1050" dirty="0">
                <a:solidFill>
                  <a:srgbClr val="68554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Cloud Build for deploys</a:t>
            </a:r>
            <a:endParaRPr lang="en-US" sz="1050" dirty="0"/>
          </a:p>
          <a:p>
            <a:pPr marL="152400" indent="-152400">
              <a:buSzPct val="100000"/>
              <a:buChar char="•"/>
            </a:pPr>
            <a:r>
              <a:rPr lang="en-US" sz="1050" dirty="0">
                <a:solidFill>
                  <a:srgbClr val="68554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Cloud Run services live</a:t>
            </a:r>
            <a:endParaRPr lang="en-US" sz="1050" dirty="0"/>
          </a:p>
          <a:p>
            <a:pPr marL="152400" indent="-152400">
              <a:buSzPct val="100000"/>
              <a:buChar char="•"/>
            </a:pPr>
            <a:r>
              <a:rPr lang="en-US" sz="1050" dirty="0">
                <a:solidFill>
                  <a:srgbClr val="68554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Track 1 stack matched directly</a:t>
            </a:r>
            <a:endParaRPr lang="en-US" sz="105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7ECD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228600" y="228600"/>
            <a:ext cx="11731752" cy="6400800"/>
          </a:xfrm>
          <a:prstGeom prst="rect">
            <a:avLst>
              <a:gd name="adj" fmla="val 2571"/>
            </a:avLst>
          </a:prstGeom>
          <a:solidFill>
            <a:srgbClr val="FFF9F1"/>
          </a:solidFill>
          <a:ln w="12700">
            <a:solidFill>
              <a:srgbClr val="EAD7BF">
                <a:alpha val="0"/>
              </a:srgbClr>
            </a:solidFill>
            <a:prstDash val="solid"/>
          </a:ln>
          <a:effectLst>
            <a:outerShdw sx="100000" sy="100000" kx="0" ky="0" algn="bl" rotWithShape="0" blurRad="19050" dist="15240" dir="2700000">
              <a:srgbClr val="8A5B36">
                <a:alpha val="10000"/>
              </a:srgbClr>
            </a:outerShdw>
          </a:effectLst>
        </p:spPr>
      </p:sp>
      <p:sp>
        <p:nvSpPr>
          <p:cNvPr id="3" name="Text 1"/>
          <p:cNvSpPr/>
          <p:nvPr/>
        </p:nvSpPr>
        <p:spPr>
          <a:xfrm>
            <a:off x="640080" y="530352"/>
            <a:ext cx="40233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A9501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IMPACT AND ROADMAP</a:t>
            </a:r>
            <a:endParaRPr lang="en-US" sz="900" dirty="0"/>
          </a:p>
        </p:txBody>
      </p:sp>
      <p:sp>
        <p:nvSpPr>
          <p:cNvPr id="4" name="Text 2"/>
          <p:cNvSpPr/>
          <p:nvPr/>
        </p:nvSpPr>
        <p:spPr>
          <a:xfrm>
            <a:off x="640080" y="841248"/>
            <a:ext cx="6583680" cy="5303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300" b="1" dirty="0">
                <a:solidFill>
                  <a:srgbClr val="2C211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Why this MVP is strong now and expandable later</a:t>
            </a:r>
            <a:endParaRPr lang="en-US" sz="2300" dirty="0"/>
          </a:p>
        </p:txBody>
      </p:sp>
      <p:sp>
        <p:nvSpPr>
          <p:cNvPr id="5" name="Text 3"/>
          <p:cNvSpPr/>
          <p:nvPr/>
        </p:nvSpPr>
        <p:spPr>
          <a:xfrm>
            <a:off x="640080" y="1481328"/>
            <a:ext cx="612648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8554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current version is intentionally small, affordable, and demo-ready. It solves a real problem first, then leaves room for deeper native audio and broader language support.</a:t>
            </a:r>
            <a:endParaRPr lang="en-US" sz="1100" dirty="0"/>
          </a:p>
        </p:txBody>
      </p:sp>
      <p:sp>
        <p:nvSpPr>
          <p:cNvPr id="6" name="Shape 4"/>
          <p:cNvSpPr/>
          <p:nvPr/>
        </p:nvSpPr>
        <p:spPr>
          <a:xfrm>
            <a:off x="822960" y="2468880"/>
            <a:ext cx="2651760" cy="1143000"/>
          </a:xfrm>
          <a:prstGeom prst="roundRect">
            <a:avLst>
              <a:gd name="adj" fmla="val 12800"/>
            </a:avLst>
          </a:prstGeom>
          <a:solidFill>
            <a:srgbClr val="FFFFFF">
              <a:alpha val="98000"/>
            </a:srgbClr>
          </a:solidFill>
          <a:ln w="12700">
            <a:solidFill>
              <a:srgbClr val="FF9B46">
                <a:alpha val="15000"/>
              </a:srgbClr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987552" y="2633472"/>
            <a:ext cx="2322576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2C211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Immediate value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987552" y="2926080"/>
            <a:ext cx="2322576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8554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Hindi support, calm teaching, and mother-friendly summary from day one.</a:t>
            </a:r>
            <a:endParaRPr lang="en-US" sz="1000" dirty="0"/>
          </a:p>
        </p:txBody>
      </p:sp>
      <p:sp>
        <p:nvSpPr>
          <p:cNvPr id="9" name="Shape 7"/>
          <p:cNvSpPr/>
          <p:nvPr/>
        </p:nvSpPr>
        <p:spPr>
          <a:xfrm>
            <a:off x="3675888" y="2468880"/>
            <a:ext cx="2651760" cy="1143000"/>
          </a:xfrm>
          <a:prstGeom prst="roundRect">
            <a:avLst>
              <a:gd name="adj" fmla="val 12800"/>
            </a:avLst>
          </a:prstGeom>
          <a:solidFill>
            <a:srgbClr val="FFFFFF">
              <a:alpha val="98000"/>
            </a:srgbClr>
          </a:solidFill>
          <a:ln w="12700">
            <a:solidFill>
              <a:srgbClr val="5E9F69">
                <a:alpha val="15000"/>
              </a:srgbClr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3840480" y="2633472"/>
            <a:ext cx="2322576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2C211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Affordable build</a:t>
            </a:r>
            <a:endParaRPr lang="en-US" sz="1200" dirty="0"/>
          </a:p>
        </p:txBody>
      </p:sp>
      <p:sp>
        <p:nvSpPr>
          <p:cNvPr id="11" name="Text 9"/>
          <p:cNvSpPr/>
          <p:nvPr/>
        </p:nvSpPr>
        <p:spPr>
          <a:xfrm>
            <a:off x="3840480" y="2926080"/>
            <a:ext cx="2322576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8554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Cloud Run + Gemini Flash keeps the MVP cost low and practical.</a:t>
            </a:r>
            <a:endParaRPr lang="en-US" sz="1000" dirty="0"/>
          </a:p>
        </p:txBody>
      </p:sp>
      <p:sp>
        <p:nvSpPr>
          <p:cNvPr id="12" name="Shape 10"/>
          <p:cNvSpPr/>
          <p:nvPr/>
        </p:nvSpPr>
        <p:spPr>
          <a:xfrm>
            <a:off x="6528816" y="2468880"/>
            <a:ext cx="2651760" cy="1143000"/>
          </a:xfrm>
          <a:prstGeom prst="roundRect">
            <a:avLst>
              <a:gd name="adj" fmla="val 12800"/>
            </a:avLst>
          </a:prstGeom>
          <a:solidFill>
            <a:srgbClr val="FFFFFF">
              <a:alpha val="98000"/>
            </a:srgbClr>
          </a:solidFill>
          <a:ln w="12700">
            <a:solidFill>
              <a:srgbClr val="59B8D4">
                <a:alpha val="15000"/>
              </a:srgbClr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6693408" y="2633472"/>
            <a:ext cx="2322576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2C211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Hackathon fit</a:t>
            </a:r>
            <a:endParaRPr lang="en-US" sz="1200" dirty="0"/>
          </a:p>
        </p:txBody>
      </p:sp>
      <p:sp>
        <p:nvSpPr>
          <p:cNvPr id="14" name="Text 12"/>
          <p:cNvSpPr/>
          <p:nvPr/>
        </p:nvSpPr>
        <p:spPr>
          <a:xfrm>
            <a:off x="6693408" y="2926080"/>
            <a:ext cx="2322576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8554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Clear problem, simple demo, and direct Google Cloud alignment.</a:t>
            </a:r>
            <a:endParaRPr lang="en-US" sz="1000" dirty="0"/>
          </a:p>
        </p:txBody>
      </p:sp>
      <p:sp>
        <p:nvSpPr>
          <p:cNvPr id="15" name="Shape 13"/>
          <p:cNvSpPr/>
          <p:nvPr/>
        </p:nvSpPr>
        <p:spPr>
          <a:xfrm>
            <a:off x="9381744" y="2468880"/>
            <a:ext cx="1920240" cy="1143000"/>
          </a:xfrm>
          <a:prstGeom prst="roundRect">
            <a:avLst>
              <a:gd name="adj" fmla="val 12800"/>
            </a:avLst>
          </a:prstGeom>
          <a:solidFill>
            <a:srgbClr val="FFFFFF">
              <a:alpha val="98000"/>
            </a:srgbClr>
          </a:solidFill>
          <a:ln w="12700">
            <a:solidFill>
              <a:srgbClr val="FF9B46">
                <a:alpha val="15000"/>
              </a:srgbClr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9546336" y="2633472"/>
            <a:ext cx="1591056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2C211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Scale path</a:t>
            </a:r>
            <a:endParaRPr lang="en-US" sz="1200" dirty="0"/>
          </a:p>
        </p:txBody>
      </p:sp>
      <p:sp>
        <p:nvSpPr>
          <p:cNvPr id="17" name="Text 15"/>
          <p:cNvSpPr/>
          <p:nvPr/>
        </p:nvSpPr>
        <p:spPr>
          <a:xfrm>
            <a:off x="9546336" y="2926080"/>
            <a:ext cx="1591056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8554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Native audio and progress tracking later.</a:t>
            </a:r>
            <a:endParaRPr lang="en-US" sz="1000" dirty="0"/>
          </a:p>
        </p:txBody>
      </p:sp>
      <p:sp>
        <p:nvSpPr>
          <p:cNvPr id="18" name="Shape 16"/>
          <p:cNvSpPr/>
          <p:nvPr/>
        </p:nvSpPr>
        <p:spPr>
          <a:xfrm>
            <a:off x="822960" y="4069080"/>
            <a:ext cx="3474720" cy="1874520"/>
          </a:xfrm>
          <a:prstGeom prst="roundRect">
            <a:avLst>
              <a:gd name="adj" fmla="val 7805"/>
            </a:avLst>
          </a:prstGeom>
          <a:solidFill>
            <a:srgbClr val="FFFFFF">
              <a:alpha val="97000"/>
            </a:srgbClr>
          </a:solidFill>
          <a:ln w="12700">
            <a:solidFill>
              <a:srgbClr val="5E9F69">
                <a:alpha val="12000"/>
              </a:srgbClr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1024128" y="4233672"/>
            <a:ext cx="307238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2C211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What is already live</a:t>
            </a:r>
            <a:endParaRPr lang="en-US" sz="1500" dirty="0"/>
          </a:p>
        </p:txBody>
      </p:sp>
      <p:sp>
        <p:nvSpPr>
          <p:cNvPr id="20" name="Text 18"/>
          <p:cNvSpPr/>
          <p:nvPr/>
        </p:nvSpPr>
        <p:spPr>
          <a:xfrm>
            <a:off x="1024128" y="4599432"/>
            <a:ext cx="3127248" cy="121615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52400" indent="-152400">
              <a:buSzPct val="100000"/>
              <a:buChar char="•"/>
            </a:pPr>
            <a:r>
              <a:rPr lang="en-US" sz="1050" dirty="0">
                <a:solidFill>
                  <a:srgbClr val="68554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Deployed frontend</a:t>
            </a:r>
            <a:endParaRPr lang="en-US" sz="1050" dirty="0"/>
          </a:p>
          <a:p>
            <a:pPr marL="152400" indent="-152400">
              <a:buSzPct val="100000"/>
              <a:buChar char="•"/>
            </a:pPr>
            <a:r>
              <a:rPr lang="en-US" sz="1050" dirty="0">
                <a:solidFill>
                  <a:srgbClr val="68554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Deployed ADK backend</a:t>
            </a:r>
            <a:endParaRPr lang="en-US" sz="1050" dirty="0"/>
          </a:p>
          <a:p>
            <a:pPr marL="152400" indent="-152400">
              <a:buSzPct val="100000"/>
              <a:buChar char="•"/>
            </a:pPr>
            <a:r>
              <a:rPr lang="en-US" sz="1050" dirty="0">
                <a:solidFill>
                  <a:srgbClr val="68554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Real Gemini responses through Vertex AI</a:t>
            </a:r>
            <a:endParaRPr lang="en-US" sz="1050" dirty="0"/>
          </a:p>
        </p:txBody>
      </p:sp>
      <p:sp>
        <p:nvSpPr>
          <p:cNvPr id="21" name="Shape 19"/>
          <p:cNvSpPr/>
          <p:nvPr/>
        </p:nvSpPr>
        <p:spPr>
          <a:xfrm>
            <a:off x="4553712" y="4069080"/>
            <a:ext cx="3474720" cy="1874520"/>
          </a:xfrm>
          <a:prstGeom prst="roundRect">
            <a:avLst>
              <a:gd name="adj" fmla="val 7805"/>
            </a:avLst>
          </a:prstGeom>
          <a:solidFill>
            <a:srgbClr val="FFFFFF">
              <a:alpha val="97000"/>
            </a:srgbClr>
          </a:solidFill>
          <a:ln w="12700">
            <a:solidFill>
              <a:srgbClr val="FF9B46">
                <a:alpha val="12000"/>
              </a:srgbClr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4754880" y="4233672"/>
            <a:ext cx="307238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2C211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Next product upgrades</a:t>
            </a:r>
            <a:endParaRPr lang="en-US" sz="1500" dirty="0"/>
          </a:p>
        </p:txBody>
      </p:sp>
      <p:sp>
        <p:nvSpPr>
          <p:cNvPr id="23" name="Text 21"/>
          <p:cNvSpPr/>
          <p:nvPr/>
        </p:nvSpPr>
        <p:spPr>
          <a:xfrm>
            <a:off x="4754880" y="4599432"/>
            <a:ext cx="3127248" cy="121615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52400" indent="-152400">
              <a:buSzPct val="100000"/>
              <a:buChar char="•"/>
            </a:pPr>
            <a:r>
              <a:rPr lang="en-US" sz="1050" dirty="0">
                <a:solidFill>
                  <a:srgbClr val="68554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Gemini Live native audio</a:t>
            </a:r>
            <a:endParaRPr lang="en-US" sz="1050" dirty="0"/>
          </a:p>
          <a:p>
            <a:pPr marL="152400" indent="-152400">
              <a:buSzPct val="100000"/>
              <a:buChar char="•"/>
            </a:pPr>
            <a:r>
              <a:rPr lang="en-US" sz="1050" dirty="0">
                <a:solidFill>
                  <a:srgbClr val="68554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Progress history across sessions</a:t>
            </a:r>
            <a:endParaRPr lang="en-US" sz="1050" dirty="0"/>
          </a:p>
          <a:p>
            <a:pPr marL="152400" indent="-152400">
              <a:buSzPct val="100000"/>
              <a:buChar char="•"/>
            </a:pPr>
            <a:r>
              <a:rPr lang="en-US" sz="1050" dirty="0">
                <a:solidFill>
                  <a:srgbClr val="68554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More class-wise topic packs</a:t>
            </a:r>
            <a:endParaRPr lang="en-US" sz="1050" dirty="0"/>
          </a:p>
        </p:txBody>
      </p:sp>
      <p:sp>
        <p:nvSpPr>
          <p:cNvPr id="24" name="Shape 22"/>
          <p:cNvSpPr/>
          <p:nvPr/>
        </p:nvSpPr>
        <p:spPr>
          <a:xfrm>
            <a:off x="8284464" y="4069080"/>
            <a:ext cx="3017520" cy="1874520"/>
          </a:xfrm>
          <a:prstGeom prst="roundRect">
            <a:avLst>
              <a:gd name="adj" fmla="val 7805"/>
            </a:avLst>
          </a:prstGeom>
          <a:solidFill>
            <a:srgbClr val="FFFFFF">
              <a:alpha val="97000"/>
            </a:srgbClr>
          </a:solidFill>
          <a:ln w="12700">
            <a:solidFill>
              <a:srgbClr val="59B8D4">
                <a:alpha val="12000"/>
              </a:srgbClr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8485632" y="4233672"/>
            <a:ext cx="261518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2C211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Judge takeaway</a:t>
            </a:r>
            <a:endParaRPr lang="en-US" sz="1500" dirty="0"/>
          </a:p>
        </p:txBody>
      </p:sp>
      <p:sp>
        <p:nvSpPr>
          <p:cNvPr id="26" name="Text 24"/>
          <p:cNvSpPr/>
          <p:nvPr/>
        </p:nvSpPr>
        <p:spPr>
          <a:xfrm>
            <a:off x="8485632" y="4599432"/>
            <a:ext cx="2670048" cy="121615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52400" indent="-152400">
              <a:buSzPct val="100000"/>
              <a:buChar char="•"/>
            </a:pPr>
            <a:r>
              <a:rPr lang="en-US" sz="1050" dirty="0">
                <a:solidFill>
                  <a:srgbClr val="68554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Useful now</a:t>
            </a:r>
            <a:endParaRPr lang="en-US" sz="1050" dirty="0"/>
          </a:p>
          <a:p>
            <a:pPr marL="152400" indent="-152400">
              <a:buSzPct val="100000"/>
              <a:buChar char="•"/>
            </a:pPr>
            <a:r>
              <a:rPr lang="en-US" sz="1050" dirty="0">
                <a:solidFill>
                  <a:srgbClr val="68554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Low-friction demo</a:t>
            </a:r>
            <a:endParaRPr lang="en-US" sz="1050" dirty="0"/>
          </a:p>
          <a:p>
            <a:pPr marL="152400" indent="-152400">
              <a:buSzPct val="100000"/>
              <a:buChar char="•"/>
            </a:pPr>
            <a:r>
              <a:rPr lang="en-US" sz="1050" dirty="0">
                <a:solidFill>
                  <a:srgbClr val="68554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Clearly deployable</a:t>
            </a:r>
            <a:endParaRPr lang="en-US" sz="105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7ECD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228600" y="228600"/>
            <a:ext cx="11731752" cy="6400800"/>
          </a:xfrm>
          <a:prstGeom prst="rect">
            <a:avLst>
              <a:gd name="adj" fmla="val 2571"/>
            </a:avLst>
          </a:prstGeom>
          <a:solidFill>
            <a:srgbClr val="FFF9F1"/>
          </a:solidFill>
          <a:ln w="12700">
            <a:solidFill>
              <a:srgbClr val="EAD7BF">
                <a:alpha val="0"/>
              </a:srgbClr>
            </a:solidFill>
            <a:prstDash val="solid"/>
          </a:ln>
          <a:effectLst>
            <a:outerShdw sx="100000" sy="100000" kx="0" ky="0" algn="bl" rotWithShape="0" blurRad="19050" dist="15240" dir="2700000">
              <a:srgbClr val="8A5B36">
                <a:alpha val="10000"/>
              </a:srgbClr>
            </a:outerShdw>
          </a:effectLst>
        </p:spPr>
      </p:sp>
      <p:sp>
        <p:nvSpPr>
          <p:cNvPr id="3" name="Text 1"/>
          <p:cNvSpPr/>
          <p:nvPr/>
        </p:nvSpPr>
        <p:spPr>
          <a:xfrm>
            <a:off x="640080" y="530352"/>
            <a:ext cx="40233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A9501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DEMO AND LINKS</a:t>
            </a:r>
            <a:endParaRPr lang="en-US" sz="900" dirty="0"/>
          </a:p>
        </p:txBody>
      </p:sp>
      <p:sp>
        <p:nvSpPr>
          <p:cNvPr id="4" name="Text 2"/>
          <p:cNvSpPr/>
          <p:nvPr/>
        </p:nvSpPr>
        <p:spPr>
          <a:xfrm>
            <a:off x="640080" y="841248"/>
            <a:ext cx="6583680" cy="5303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300" b="1" dirty="0">
                <a:solidFill>
                  <a:srgbClr val="2C211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How to present NanhiPathshala in under 2 minutes</a:t>
            </a:r>
            <a:endParaRPr lang="en-US" sz="2300" dirty="0"/>
          </a:p>
        </p:txBody>
      </p:sp>
      <p:sp>
        <p:nvSpPr>
          <p:cNvPr id="5" name="Text 3"/>
          <p:cNvSpPr/>
          <p:nvPr/>
        </p:nvSpPr>
        <p:spPr>
          <a:xfrm>
            <a:off x="640080" y="1481328"/>
            <a:ext cx="612648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8554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Open the live app, choose class and subject, ask a Hindi question, show the reteach flow, then end on the parent summary and architecture story.</a:t>
            </a:r>
            <a:endParaRPr lang="en-US" sz="1100" dirty="0"/>
          </a:p>
        </p:txBody>
      </p:sp>
      <p:sp>
        <p:nvSpPr>
          <p:cNvPr id="6" name="Shape 4"/>
          <p:cNvSpPr/>
          <p:nvPr/>
        </p:nvSpPr>
        <p:spPr>
          <a:xfrm>
            <a:off x="731520" y="2286000"/>
            <a:ext cx="3749040" cy="3154680"/>
          </a:xfrm>
          <a:prstGeom prst="roundRect">
            <a:avLst>
              <a:gd name="adj" fmla="val 4638"/>
            </a:avLst>
          </a:prstGeom>
          <a:solidFill>
            <a:srgbClr val="FFFFFF">
              <a:alpha val="97000"/>
            </a:srgbClr>
          </a:solidFill>
          <a:ln w="12700">
            <a:solidFill>
              <a:srgbClr val="FF9B46">
                <a:alpha val="12000"/>
              </a:srgbClr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932688" y="2450592"/>
            <a:ext cx="334670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2C211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Demo flow</a:t>
            </a:r>
            <a:endParaRPr lang="en-US" sz="1500" dirty="0"/>
          </a:p>
        </p:txBody>
      </p:sp>
      <p:sp>
        <p:nvSpPr>
          <p:cNvPr id="8" name="Text 6"/>
          <p:cNvSpPr/>
          <p:nvPr/>
        </p:nvSpPr>
        <p:spPr>
          <a:xfrm>
            <a:off x="932688" y="2816352"/>
            <a:ext cx="3401568" cy="249631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52400" indent="-152400">
              <a:buSzPct val="100000"/>
              <a:buChar char="•"/>
            </a:pPr>
            <a:r>
              <a:rPr lang="en-US" sz="1050" dirty="0">
                <a:solidFill>
                  <a:srgbClr val="68554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Show Hindi-first mobile UI.</a:t>
            </a:r>
            <a:endParaRPr lang="en-US" sz="1050" dirty="0"/>
          </a:p>
          <a:p>
            <a:pPr marL="152400" indent="-152400">
              <a:buSzPct val="100000"/>
              <a:buChar char="•"/>
            </a:pPr>
            <a:r>
              <a:rPr lang="en-US" sz="1050" dirty="0">
                <a:solidFill>
                  <a:srgbClr val="68554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Pick a class, subject, and child mood.</a:t>
            </a:r>
            <a:endParaRPr lang="en-US" sz="1050" dirty="0"/>
          </a:p>
          <a:p>
            <a:pPr marL="152400" indent="-152400">
              <a:buSzPct val="100000"/>
              <a:buChar char="•"/>
            </a:pPr>
            <a:r>
              <a:rPr lang="en-US" sz="1050" dirty="0">
                <a:solidFill>
                  <a:srgbClr val="68554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Ask a simple topic question.</a:t>
            </a:r>
            <a:endParaRPr lang="en-US" sz="1050" dirty="0"/>
          </a:p>
          <a:p>
            <a:pPr marL="152400" indent="-152400">
              <a:buSzPct val="100000"/>
              <a:buChar char="•"/>
            </a:pPr>
            <a:r>
              <a:rPr lang="en-US" sz="1050" dirty="0">
                <a:solidFill>
                  <a:srgbClr val="68554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Say “samajh nahi aaya” and show reteach behavior.</a:t>
            </a:r>
            <a:endParaRPr lang="en-US" sz="1050" dirty="0"/>
          </a:p>
          <a:p>
            <a:pPr marL="152400" indent="-152400">
              <a:buSzPct val="100000"/>
              <a:buChar char="•"/>
            </a:pPr>
            <a:r>
              <a:rPr lang="en-US" sz="1050" dirty="0">
                <a:solidFill>
                  <a:srgbClr val="68554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Show practice prompts and mother summary.</a:t>
            </a:r>
            <a:endParaRPr lang="en-US" sz="1050" dirty="0"/>
          </a:p>
        </p:txBody>
      </p:sp>
      <p:sp>
        <p:nvSpPr>
          <p:cNvPr id="9" name="Shape 7"/>
          <p:cNvSpPr/>
          <p:nvPr/>
        </p:nvSpPr>
        <p:spPr>
          <a:xfrm>
            <a:off x="4709160" y="2286000"/>
            <a:ext cx="2907792" cy="3154680"/>
          </a:xfrm>
          <a:prstGeom prst="roundRect">
            <a:avLst>
              <a:gd name="adj" fmla="val 5031"/>
            </a:avLst>
          </a:prstGeom>
          <a:solidFill>
            <a:srgbClr val="FFFFFF">
              <a:alpha val="97000"/>
            </a:srgbClr>
          </a:solidFill>
          <a:ln w="12700">
            <a:solidFill>
              <a:srgbClr val="5E9F69">
                <a:alpha val="12000"/>
              </a:srgbClr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4910328" y="2450592"/>
            <a:ext cx="250545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2C211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Live links</a:t>
            </a:r>
            <a:endParaRPr lang="en-US" sz="1500" dirty="0"/>
          </a:p>
        </p:txBody>
      </p:sp>
      <p:sp>
        <p:nvSpPr>
          <p:cNvPr id="11" name="Text 9"/>
          <p:cNvSpPr/>
          <p:nvPr/>
        </p:nvSpPr>
        <p:spPr>
          <a:xfrm>
            <a:off x="4910328" y="2816352"/>
            <a:ext cx="2560320" cy="249631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52400" indent="-152400">
              <a:buSzPct val="100000"/>
              <a:buChar char="•"/>
            </a:pPr>
            <a:r>
              <a:rPr lang="en-US" sz="1050" dirty="0">
                <a:solidFill>
                  <a:srgbClr val="68554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Web app: nanhipathshala-web-766923141169.us-central1.run.app</a:t>
            </a:r>
            <a:endParaRPr lang="en-US" sz="1050" dirty="0"/>
          </a:p>
          <a:p>
            <a:pPr marL="152400" indent="-152400">
              <a:buSzPct val="100000"/>
              <a:buChar char="•"/>
            </a:pPr>
            <a:r>
              <a:rPr lang="en-US" sz="1050" dirty="0">
                <a:solidFill>
                  <a:srgbClr val="68554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Agent API: nanhipathshala-agent-766923141169.us-central1.run.app</a:t>
            </a:r>
            <a:endParaRPr lang="en-US" sz="1050" dirty="0"/>
          </a:p>
          <a:p>
            <a:pPr marL="152400" indent="-152400">
              <a:buSzPct val="100000"/>
              <a:buChar char="•"/>
            </a:pPr>
            <a:r>
              <a:rPr lang="en-US" sz="1050" dirty="0">
                <a:solidFill>
                  <a:srgbClr val="68554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Docs: architecture, track fit, demo script, submission copy</a:t>
            </a:r>
            <a:endParaRPr lang="en-US" sz="1050" dirty="0"/>
          </a:p>
        </p:txBody>
      </p:sp>
      <p:sp>
        <p:nvSpPr>
          <p:cNvPr id="12" name="Shape 10"/>
          <p:cNvSpPr/>
          <p:nvPr/>
        </p:nvSpPr>
        <p:spPr>
          <a:xfrm>
            <a:off x="7845552" y="2286000"/>
            <a:ext cx="3611880" cy="3154680"/>
          </a:xfrm>
          <a:prstGeom prst="roundRect">
            <a:avLst>
              <a:gd name="adj" fmla="val 4638"/>
            </a:avLst>
          </a:prstGeom>
          <a:solidFill>
            <a:srgbClr val="FFFFFF">
              <a:alpha val="97000"/>
            </a:srgbClr>
          </a:solidFill>
          <a:ln w="12700">
            <a:solidFill>
              <a:srgbClr val="59B8D4">
                <a:alpha val="12000"/>
              </a:srgbClr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8046720" y="2450592"/>
            <a:ext cx="320954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2C211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Closing line</a:t>
            </a:r>
            <a:endParaRPr lang="en-US" sz="1500" dirty="0"/>
          </a:p>
        </p:txBody>
      </p:sp>
      <p:sp>
        <p:nvSpPr>
          <p:cNvPr id="14" name="Text 12"/>
          <p:cNvSpPr/>
          <p:nvPr/>
        </p:nvSpPr>
        <p:spPr>
          <a:xfrm>
            <a:off x="8046720" y="2816352"/>
            <a:ext cx="3264408" cy="249631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52400" indent="-152400">
              <a:buSzPct val="100000"/>
              <a:buChar char="•"/>
            </a:pPr>
            <a:r>
              <a:rPr lang="en-US" sz="1050" dirty="0">
                <a:solidFill>
                  <a:srgbClr val="68554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NanhiPathshala gives Indian families a low-cost Hindi AI tutor that is patient, practical, and deployable today on Google Cloud.</a:t>
            </a:r>
            <a:endParaRPr lang="en-US" sz="1050" dirty="0"/>
          </a:p>
        </p:txBody>
      </p:sp>
      <p:sp>
        <p:nvSpPr>
          <p:cNvPr id="15" name="Text 13"/>
          <p:cNvSpPr/>
          <p:nvPr/>
        </p:nvSpPr>
        <p:spPr>
          <a:xfrm>
            <a:off x="749808" y="5897880"/>
            <a:ext cx="14630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2C211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Thank you</a:t>
            </a:r>
            <a:endParaRPr lang="en-US" sz="18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rial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6</Slides>
  <Notes>6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6</vt:i4>
      </vt:variant>
    </vt:vector>
  </HeadingPairs>
  <TitlesOfParts>
    <vt:vector size="9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</vt:vector>
  </TitlesOfParts>
  <Company>NanhiPathshala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NanhiPathshala Submission Deck</dc:title>
  <dc:subject>Google Cloud Gen AI Academy APAC Edition submission</dc:subject>
  <dc:creator>Codex</dc:creator>
  <cp:lastModifiedBy>Codex</cp:lastModifiedBy>
  <cp:revision>1</cp:revision>
  <dcterms:created xsi:type="dcterms:W3CDTF">2026-03-25T09:57:27Z</dcterms:created>
  <dcterms:modified xsi:type="dcterms:W3CDTF">2026-03-25T09:57:27Z</dcterms:modified>
</cp:coreProperties>
</file>